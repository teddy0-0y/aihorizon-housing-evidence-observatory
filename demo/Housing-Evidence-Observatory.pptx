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6ab91f255b4014" /><Relationship Type="http://schemas.openxmlformats.org/officeDocument/2006/relationships/extended-properties" Target="/docProps/app.xml" Id="R1a033b57cf874d65" /><Relationship Type="http://schemas.openxmlformats.org/officeDocument/2006/relationships/officeDocument" Target="/ppt/presentation.xml" Id="Rca6a2df8cd2142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158da7bab14f3c"/>
  </p:sldMasterIdLst>
  <p:notesMasterIdLst>
    <p:notesMasterId xmlns:r="http://schemas.openxmlformats.org/officeDocument/2006/relationships" r:id="Red0bc550847c400c"/>
  </p:notesMasterIdLst>
  <p:sldIdLst>
    <p:sldId xmlns:r="http://schemas.openxmlformats.org/officeDocument/2006/relationships" id="256" r:id="R54f89a36088d483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d2a910b8fc4607" /><Relationship Type="http://schemas.openxmlformats.org/officeDocument/2006/relationships/slideMaster" Target="/ppt/slideMasters/slideMaster1.xml" Id="Rd7158da7bab14f3c" /><Relationship Type="http://schemas.openxmlformats.org/officeDocument/2006/relationships/notesMaster" Target="/ppt/notesMasters/notesMaster1.xml" Id="Red0bc550847c400c" /><Relationship Type="http://schemas.openxmlformats.org/officeDocument/2006/relationships/presProps" Target="/ppt/presProps.xml" Id="Rd7fedabef36841b1" /><Relationship Type="http://schemas.openxmlformats.org/officeDocument/2006/relationships/tableStyles" Target="/ppt/tableStyles.xml" Id="Ref21378a1c2d4b9e" /><Relationship Type="http://schemas.openxmlformats.org/officeDocument/2006/relationships/slide" Target="/ppt/slides/slide1.xml" Id="R54f89a36088d48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7cc50f334f40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f3535758114e59" /><Relationship Type="http://schemas.openxmlformats.org/officeDocument/2006/relationships/notesMaster" Target="/ppt/notesMasters/notesMaster1.xml" Id="R41f42547d88341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Presenters: Susana (Yu Hua) Peng and Yen-Chu Chen, Carnegie Mellon University.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problem is not just finding housing data. It is knowing what that data supports and what deserves a closer look. Census estimates and permit records come from different sources and periods. A lower rent estimate does not necessarily mean less housing pressure, and an issued permit does not mean a completed home. Our approach connects those records, uses AI to surface research leads, and helps users decide what to verify next. The demo shows area and permit exploration, a manually triggered AI scan, and an evidence-based research assistant.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Content source: the project README.md, script.md, and implemented manual-scan workflow. AI findings are unverified research leads. No automatic schedule or push notifications.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4e82187d14c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3339b96b66496b" /><Relationship Type="http://schemas.openxmlformats.org/officeDocument/2006/relationships/slideLayout" Target="/ppt/slideLayouts/slideLayout1.xml" Id="R11d67c3e96e34f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d67c3e96e34f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a914304264a16" /><Relationship Type="http://schemas.openxmlformats.org/officeDocument/2006/relationships/notesSlide" Target="/ppt/notesSlides/notesSlide1.xml" Id="R2fad3d0a990b49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6C33A-5843-445F-85B5-27BB3B8E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9334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rPr>
              <a:t>Housing Evidence</a:t>
            </a:r>
          </a:p>
          <a:p xmlns:a="http://schemas.openxmlformats.org/drawingml/2006/main">
            <a:pPr>
              <a:defRPr sz="5250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rPr>
              <a:t>Observatory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C8246-E6B7-4883-A34E-F991B6CC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85800"/>
            <a:ext cx="4238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rPr>
              <a:t>Susana (Yu Hua) Peng</a:t>
            </a:r>
          </a:p>
          <a:p xmlns:a="http://schemas.openxmlformats.org/drawingml/2006/main">
            <a:pPr>
              <a:defRPr sz="2175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rPr>
              <a:t>Yen-Chu 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25141-6B9B-414C-82E6-C2EA2EBA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52575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rPr>
              <a:t>Carnegie Mellon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C39D8-42E7-45F0-B5F5-598BDF87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F60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7F601C"/>
                </a:solidFill>
                <a:latin typeface="Helvetica Neue"/>
                <a:ea typeface="Helvetica Neue"/>
                <a:cs typeface="Helvetica Neue"/>
              </a:rPr>
              <a:t>Pittsburgh &amp; Allegheny County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6DAE5-13D4-43BE-858C-930CA33A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966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89661C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3BF58-A1AB-42B2-B3C6-4167DC37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6334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rPr>
              <a:t>Housing data is scattered.</a:t>
            </a:r>
          </a:p>
          <a:p xmlns:a="http://schemas.openxmlformats.org/drawingml/2006/main">
            <a:pPr>
              <a:defRPr sz="2850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rPr>
              <a:t>What deserves attention?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9E616-21FF-42B8-BB08-27E86A88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6334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rPr>
              <a:t>Sources use different dates and definitions.</a:t>
            </a:r>
          </a:p>
          <a:p xmlns:a="http://schemas.openxmlformats.org/drawingml/2006/main">
            <a:pPr>
              <a:defRPr sz="210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rPr>
              <a:t>Users must decide what to investigate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98316-370E-4024-81E2-38F8A1AB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81350"/>
            <a:ext cx="645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966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89661C"/>
                </a:solidFill>
                <a:latin typeface="Helvetica Neue"/>
                <a:ea typeface="Helvetica Neue"/>
                <a:cs typeface="Helvetica Neue"/>
              </a:rPr>
              <a:t>OUR APPROACH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A8773-A138-4502-891E-055646F4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6457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rPr>
              <a:t>Connect the evidence and</a:t>
            </a:r>
          </a:p>
          <a:p xmlns:a="http://schemas.openxmlformats.org/drawingml/2006/main">
            <a:pPr>
              <a:defRPr sz="2850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rPr>
              <a:t>identify leads to investigate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C9959-3B8B-44AC-92A0-45B42B2F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62500"/>
            <a:ext cx="64579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rPr>
              <a:t>Keep source records and uncertainty visible</a:t>
            </a:r>
          </a:p>
          <a:p xmlns:a="http://schemas.openxmlformats.org/drawingml/2006/main">
            <a:pPr>
              <a:defRPr sz="210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rPr>
              <a:t>so people can choose their next check.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A9C20-AFE3-43B6-96EC-A5A8CDAD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rPr>
              <a:t>01  Explore &amp; 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D096B-9B57-406D-B98D-9CB51E2D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67525"/>
            <a:ext cx="428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rPr>
              <a:t>Area profiles and permit records</a:t>
            </a:r>
          </a:p>
          <a:p xmlns:a="http://schemas.openxmlformats.org/drawingml/2006/main">
            <a:pPr>
              <a:defRPr sz="195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rPr>
              <a:t>put housing questions in 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FA334-D522-4BDE-BE3F-D6BFFB4C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2579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rPr>
              <a:t>02  AI scanning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99CB8-1296-4AA2-A05E-083F2228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867525"/>
            <a:ext cx="4191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rPr>
              <a:t>A manual scan surfaces research</a:t>
            </a:r>
          </a:p>
          <a:p xmlns:a="http://schemas.openxmlformats.org/drawingml/2006/main">
            <a:pPr>
              <a:defRPr sz="195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rPr>
              <a:t>leads with supporting evidence.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E072B-5A15-4F23-AB51-71C1D21F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63237"/>
                </a:solidFill>
                <a:latin typeface="Helvetica Neue"/>
                <a:ea typeface="Helvetica Neue"/>
                <a:cs typeface="Helvetica Neue"/>
              </a:rPr>
              <a:t>03  Research assistant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A7546-32AF-4D7A-BD04-2C59BC29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867525"/>
            <a:ext cx="428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rPr>
              <a:t>Ask about the evidence and</a:t>
            </a:r>
          </a:p>
          <a:p xmlns:a="http://schemas.openxmlformats.org/drawingml/2006/main">
            <a:pPr>
              <a:defRPr sz="195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615E"/>
                </a:solidFill>
                <a:latin typeface="Helvetica Neue"/>
                <a:ea typeface="Helvetica Neue"/>
                <a:cs typeface="Helvetica Neue"/>
              </a:rPr>
              <a:t>what to verify next.</a:t>
            </a:r>
          </a:p>
        </p:txBody>
      </p:sp>
    </p:spTree>
    <p:extLst>
      <p:ext uri="{BB962C8B-B14F-4D97-AF65-F5344CB8AC3E}">
        <p14:creationId xmlns:p14="http://schemas.microsoft.com/office/powerpoint/2010/main" val="2126960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2026-09-27T22:46:47.9890000Z</dcterms:created>
  <dcterms:modified xsi:type="dcterms:W3CDTF">2026-09-27T22:46:47.9890000Z</dcterms:modified>
</coreProperties>
</file>